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9" r:id="rId3"/>
    <p:sldId id="270" r:id="rId4"/>
    <p:sldId id="257" r:id="rId5"/>
    <p:sldId id="258" r:id="rId6"/>
    <p:sldId id="264" r:id="rId7"/>
    <p:sldId id="263" r:id="rId8"/>
    <p:sldId id="266" r:id="rId9"/>
    <p:sldId id="267" r:id="rId10"/>
    <p:sldId id="265" r:id="rId11"/>
    <p:sldId id="268" r:id="rId12"/>
    <p:sldId id="261" r:id="rId13"/>
    <p:sldId id="260" r:id="rId14"/>
    <p:sldId id="271" r:id="rId15"/>
    <p:sldId id="262" r:id="rId16"/>
    <p:sldId id="259" r:id="rId17"/>
    <p:sldId id="272" r:id="rId18"/>
    <p:sldId id="330" r:id="rId19"/>
    <p:sldId id="315" r:id="rId20"/>
    <p:sldId id="316" r:id="rId21"/>
    <p:sldId id="326" r:id="rId22"/>
    <p:sldId id="329" r:id="rId23"/>
    <p:sldId id="328" r:id="rId24"/>
    <p:sldId id="327" r:id="rId25"/>
    <p:sldId id="27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15F40AD-13EC-497A-9C21-62FB65CEA859}">
          <p14:sldIdLst>
            <p14:sldId id="256"/>
            <p14:sldId id="269"/>
            <p14:sldId id="270"/>
            <p14:sldId id="257"/>
            <p14:sldId id="258"/>
            <p14:sldId id="264"/>
            <p14:sldId id="263"/>
            <p14:sldId id="266"/>
            <p14:sldId id="267"/>
            <p14:sldId id="265"/>
            <p14:sldId id="268"/>
            <p14:sldId id="261"/>
            <p14:sldId id="260"/>
            <p14:sldId id="271"/>
            <p14:sldId id="262"/>
            <p14:sldId id="259"/>
            <p14:sldId id="272"/>
            <p14:sldId id="330"/>
            <p14:sldId id="315"/>
            <p14:sldId id="316"/>
            <p14:sldId id="326"/>
            <p14:sldId id="329"/>
            <p14:sldId id="328"/>
            <p14:sldId id="327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40809-297E-42CF-8D90-0A559BA35DB7}" v="6" dt="2026-04-03T16:18:55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a Tejesh" userId="51b867a00d31f1f3" providerId="LiveId" clId="{8C150BB2-9218-488B-B012-E3F261622E26}"/>
    <pc:docChg chg="undo custSel modSld addSection">
      <pc:chgData name="Kacha Tejesh" userId="51b867a00d31f1f3" providerId="LiveId" clId="{8C150BB2-9218-488B-B012-E3F261622E26}" dt="2026-04-03T16:26:04.587" v="61" actId="122"/>
      <pc:docMkLst>
        <pc:docMk/>
      </pc:docMkLst>
      <pc:sldChg chg="addSp delSp modSp mod modClrScheme chgLayout">
        <pc:chgData name="Kacha Tejesh" userId="51b867a00d31f1f3" providerId="LiveId" clId="{8C150BB2-9218-488B-B012-E3F261622E26}" dt="2026-04-03T16:26:04.587" v="61" actId="122"/>
        <pc:sldMkLst>
          <pc:docMk/>
          <pc:sldMk cId="3550320908" sldId="256"/>
        </pc:sldMkLst>
        <pc:spChg chg="mod ord">
          <ac:chgData name="Kacha Tejesh" userId="51b867a00d31f1f3" providerId="LiveId" clId="{8C150BB2-9218-488B-B012-E3F261622E26}" dt="2026-04-03T16:26:04.587" v="61" actId="122"/>
          <ac:spMkLst>
            <pc:docMk/>
            <pc:sldMk cId="3550320908" sldId="256"/>
            <ac:spMk id="2" creationId="{9E5B6AE0-3BC5-98E2-1773-5236DB9B3646}"/>
          </ac:spMkLst>
        </pc:spChg>
        <pc:spChg chg="add del mod ord">
          <ac:chgData name="Kacha Tejesh" userId="51b867a00d31f1f3" providerId="LiveId" clId="{8C150BB2-9218-488B-B012-E3F261622E26}" dt="2026-04-03T16:22:40.595" v="58" actId="21"/>
          <ac:spMkLst>
            <pc:docMk/>
            <pc:sldMk cId="3550320908" sldId="256"/>
            <ac:spMk id="3" creationId="{6E37AC1A-05AD-6619-3595-56FF716DC214}"/>
          </ac:spMkLst>
        </pc:spChg>
        <pc:spChg chg="add del mod ord">
          <ac:chgData name="Kacha Tejesh" userId="51b867a00d31f1f3" providerId="LiveId" clId="{8C150BB2-9218-488B-B012-E3F261622E26}" dt="2026-04-03T16:25:56.677" v="60" actId="21"/>
          <ac:spMkLst>
            <pc:docMk/>
            <pc:sldMk cId="3550320908" sldId="256"/>
            <ac:spMk id="4" creationId="{F4AAE2BA-C577-8623-1725-84CE00E2F91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48EF4-822E-44ED-8452-03FA1C67D5C1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FE5FBC-6383-4B92-B5E4-3AC55DD6DA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726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735A9-8008-4C8E-A65E-1387BF47E1E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245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A46EE-144B-7479-5CA6-CB9A1B33B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6583D-5B92-E105-B252-5B07CE702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898E9-B025-568B-B171-4EC1B0AF4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A3B3E-0575-D383-E87A-E95E4E3B8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735A9-8008-4C8E-A65E-1387BF47E1E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298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1DEE6-10A6-8D72-B8E3-6BBE5AA26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630E7-80E5-40AF-6101-AA29318A8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1895E-ABE9-9FE4-5F1D-C577E1BC1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29180-1A1C-F6D7-E38C-1604980B5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735A9-8008-4C8E-A65E-1387BF47E1E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953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2674-2D83-D029-8F97-A021F2851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B9F53C-E298-068C-B732-F4F4D16D5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2CA29-41B7-EF29-BF49-8077479C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00D5D-34A9-4EEE-BB01-BEFEA73EF0B9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D680E-B87A-EDAD-9825-E80615EC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93EDB-1057-129A-D102-8B15E48E9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F9AD-24F7-4162-8E8A-B43234423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60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D4A82-4E25-7AA3-7024-4CDE11EF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36029-784F-268A-E157-BA737D73F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0AAB-CF52-B294-2EEA-54AE2FC93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00D5D-34A9-4EEE-BB01-BEFEA73EF0B9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432C2-63C7-11A4-FC41-331A263B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C9E62-1DCD-CA2C-1554-AE13519A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F9AD-24F7-4162-8E8A-B43234423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43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F468-92B2-D326-56E8-0086FA4BE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872A7-C994-DE1F-2B70-C6924B703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B6EA2-3BCB-E656-93F8-8BEEB9EDF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00D5D-34A9-4EEE-BB01-BEFEA73EF0B9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06AC9-5A0A-FBF3-B4A3-3A2C820A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8FF96-E7F3-B91A-5EEA-EA94E1097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F9AD-24F7-4162-8E8A-B43234423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842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313C-6201-1112-7858-9EE6A065D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4BDE4-577B-A3FD-483C-61D9C022D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2AE1A-8515-B141-DD22-0D8F7F457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1A766-E6BB-9104-1414-CB9F16CE5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00D5D-34A9-4EEE-BB01-BEFEA73EF0B9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7ACE0-9E31-D68C-5686-CCADE56A2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33F1C-446D-A78E-D961-4D1112BF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F9AD-24F7-4162-8E8A-B43234423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232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9CE6-E0B2-D187-CFCD-9FE06A75B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ED553-B35F-DB43-FBC7-61F16D38B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407A7-3DD6-3FE4-E7D0-335B63B78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64A5DC-1458-07BF-3A74-B2A12EFAA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BB4462-1213-E597-F249-1AA03CB00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5A2326-390C-4BFF-29EB-4F331415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00D5D-34A9-4EEE-BB01-BEFEA73EF0B9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7487CD-17D5-80DD-FFC5-A1AF5FE5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65A78F-68A2-C6F7-D09C-7227EDC5E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F9AD-24F7-4162-8E8A-B43234423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111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54A3-1F92-417C-AC73-6553B54C7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7FA93-D3C4-2923-E559-047BBF58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00D5D-34A9-4EEE-BB01-BEFEA73EF0B9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C7F7E-E079-6EF2-35AA-F1D8A33E9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E66E6-D853-5277-5054-0BD10272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F9AD-24F7-4162-8E8A-B43234423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92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00FD6-F731-AEF6-2EB1-EE5D18C29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00D5D-34A9-4EEE-BB01-BEFEA73EF0B9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71D08-3E92-7FFB-16E2-7BF6A6C8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2C8F4-44AE-9C46-3714-A3D70930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F9AD-24F7-4162-8E8A-B43234423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74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EB4BB-840E-3C41-446B-4156E85B3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B009A-405D-09C5-F3D2-FC3D4304A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C101B-3DA1-6266-1EDC-B769E48F7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B3847-C4F7-F49E-6EC2-225FCD05D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00D5D-34A9-4EEE-BB01-BEFEA73EF0B9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1FF46-958F-E153-3244-A472BDC76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87884-DF25-F02F-FC62-CDEDB7D75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F9AD-24F7-4162-8E8A-B43234423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87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C05EC-0533-227A-81EF-2C37DB438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10511D-D768-3E67-A3A9-9DF4D1960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14154A-BAE0-497B-A3A9-C231F837E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B90FA-9DBB-1C44-6CB1-DFA4AB71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00D5D-34A9-4EEE-BB01-BEFEA73EF0B9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F4D05-AF28-6562-8356-67897766E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F9A91-FAD6-40F4-3FF0-F4533B8D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F9AD-24F7-4162-8E8A-B43234423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351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4DF8-0641-1183-A9F8-26234110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16343-69DC-A009-058A-7AA0E33E8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0CA57-E72F-FA94-C39B-142ACC8C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00D5D-34A9-4EEE-BB01-BEFEA73EF0B9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A9EEB-513E-E919-9C3E-8EF67F5C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D39FE-E9C7-52E8-F83E-7C0CAFB4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F9AD-24F7-4162-8E8A-B43234423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631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A2F19-B91C-B586-365D-C74336D5E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2F9DD-A191-33F0-AF92-F1B9BE73A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CB9CA-B97E-0B42-B178-84FAE5AAA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00D5D-34A9-4EEE-BB01-BEFEA73EF0B9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2087C-15FD-9D9B-42D7-BA327A987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54C8B-C684-5CEF-D20F-F05BF154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F9AD-24F7-4162-8E8A-B43234423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08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A1723C-0D7C-DDAF-4E25-8ED4FA05F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1EECA-D3B7-6FCF-153A-4FF408F95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F9A24-6322-E66D-7930-AAB108343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00D5D-34A9-4EEE-BB01-BEFEA73EF0B9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F43EF-8BA3-4911-C20F-65E52A918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72A68-97DA-FBDE-C529-693ED7256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DF9AD-24F7-4162-8E8A-B43234423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17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"/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"/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6AE0-3BC5-98E2-1773-5236DB9B3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MoS₂/PEDOT:PSS Functionalized Electrode for Trace-Level Detection of Toxic Hg</a:t>
            </a:r>
            <a:r>
              <a:rPr lang="en-US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320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5ECF72-B428-1816-1480-9D993F91B0F0}"/>
              </a:ext>
            </a:extLst>
          </p:cNvPr>
          <p:cNvSpPr txBox="1"/>
          <p:nvPr/>
        </p:nvSpPr>
        <p:spPr>
          <a:xfrm>
            <a:off x="2550249" y="1041029"/>
            <a:ext cx="7091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MoS</a:t>
            </a:r>
            <a:r>
              <a:rPr lang="en-US" sz="4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PEDOT:PSS ? 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66B5070-0E1A-5C25-27B6-77B1EC017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35" y="1877655"/>
            <a:ext cx="1038717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MoS₂ (molybdenum disulfide) is a two-dimensional transition metal dichalcogenide composed of layered S–Mo–S sheets, exhibiting semiconducting behavior, high surface area, and excellent electrocatalytic and electronic properties at the nanoscale.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its large active surface, good charge carrier mobility, and strong interaction with analytes, MoS₂ is widely used in sensing, energy storage, and catalytic applications.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PEDOT:PSS is a conductive polymer composite consisting of poly(3,4-ethylenedioxythiophene) (PEDOT) as the conducting component and poly(styrene sulfonate) (PSS) as the charge-balancing and film-forming polyelectrolyte.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exhibits high electrical conductivity, flexibility, optical transparency, and good film-forming ability, making it suitable for electrodes, biosensors, and flexible electronic devices.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MoS₂ and PEDOT:PSS provides synergistic advantages, including enhanced charge transfer, increased active surface area, and improved stability, which are highly beneficial for electrochemical sensing platforms.</a:t>
            </a:r>
          </a:p>
        </p:txBody>
      </p:sp>
    </p:spTree>
    <p:extLst>
      <p:ext uri="{BB962C8B-B14F-4D97-AF65-F5344CB8AC3E}">
        <p14:creationId xmlns:p14="http://schemas.microsoft.com/office/powerpoint/2010/main" val="1419170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0D9BC-4FA2-CFCB-29DD-8DE9E4553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538FCA-E3FC-3177-FE34-E599DAF7822B}"/>
              </a:ext>
            </a:extLst>
          </p:cNvPr>
          <p:cNvSpPr txBox="1"/>
          <p:nvPr/>
        </p:nvSpPr>
        <p:spPr>
          <a:xfrm>
            <a:off x="852755" y="477077"/>
            <a:ext cx="10148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Hydrothermal Method and polymerization 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C522198-BA84-B7A9-7FDB-386E00C2C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755" y="1584274"/>
            <a:ext cx="990428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hydrothermal method is a solution-based synthesis technique carried out in a sealed autoclave at elevated temperature and pressure, enabling controlled crystal growth of nanomaterials from aqueous precursors.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method promotes high crystallinity, controlled morphology, and uniform particle size, making it widely used for preparing metal oxides, sulfides, and other functional nanostructures.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Chemical polymerization is a synthesis process in which monomer units are chemically oxidized to form long polymer chains, commonly used for preparing conducting polymers such as PEDOT.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this method, an oxidizing agent initiates polymer chain formation, while dopants or polyelectrolytes (like PSS) improve conductivity, stability, and processability of the resulting polymer.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hydrothermal synthesis and chemical polymerization are important for developing advanced nanocomposites, as they allow control over structure, composition, and functional properties required for sensing and electronic applications.</a:t>
            </a:r>
          </a:p>
        </p:txBody>
      </p:sp>
    </p:spTree>
    <p:extLst>
      <p:ext uri="{BB962C8B-B14F-4D97-AF65-F5344CB8AC3E}">
        <p14:creationId xmlns:p14="http://schemas.microsoft.com/office/powerpoint/2010/main" val="759533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8396A3-64D9-27C0-2FA5-45C834AF6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51" y="936055"/>
            <a:ext cx="10861497" cy="5824744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B1B60F-1740-03E2-DDBD-1C915202CB81}"/>
              </a:ext>
            </a:extLst>
          </p:cNvPr>
          <p:cNvSpPr txBox="1"/>
          <p:nvPr/>
        </p:nvSpPr>
        <p:spPr>
          <a:xfrm>
            <a:off x="2721485" y="228169"/>
            <a:ext cx="7091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of MoS</a:t>
            </a:r>
            <a:r>
              <a:rPr lang="en-US" sz="4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nanosheets</a:t>
            </a:r>
            <a:r>
              <a:rPr lang="en-US" sz="4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059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C021DF-712F-1DE6-6B20-865EBBC29335}"/>
              </a:ext>
            </a:extLst>
          </p:cNvPr>
          <p:cNvGrpSpPr/>
          <p:nvPr/>
        </p:nvGrpSpPr>
        <p:grpSpPr>
          <a:xfrm>
            <a:off x="616928" y="987149"/>
            <a:ext cx="11352788" cy="5690838"/>
            <a:chOff x="791589" y="524811"/>
            <a:chExt cx="11352788" cy="569083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B3FF1AD-E12C-1CDF-2245-8CBF528FA288}"/>
                </a:ext>
              </a:extLst>
            </p:cNvPr>
            <p:cNvGrpSpPr/>
            <p:nvPr/>
          </p:nvGrpSpPr>
          <p:grpSpPr>
            <a:xfrm>
              <a:off x="1047840" y="1654614"/>
              <a:ext cx="674156" cy="852462"/>
              <a:chOff x="2488234" y="1181353"/>
              <a:chExt cx="811867" cy="1072666"/>
            </a:xfrm>
          </p:grpSpPr>
          <p:sp>
            <p:nvSpPr>
              <p:cNvPr id="85" name="Cylinder 84">
                <a:extLst>
                  <a:ext uri="{FF2B5EF4-FFF2-40B4-BE49-F238E27FC236}">
                    <a16:creationId xmlns:a16="http://schemas.microsoft.com/office/drawing/2014/main" id="{DDF3842A-3429-3FE4-184E-3950F5AEACAB}"/>
                  </a:ext>
                </a:extLst>
              </p:cNvPr>
              <p:cNvSpPr/>
              <p:nvPr/>
            </p:nvSpPr>
            <p:spPr>
              <a:xfrm>
                <a:off x="2488234" y="1181353"/>
                <a:ext cx="811867" cy="1072666"/>
              </a:xfrm>
              <a:prstGeom prst="can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6" name="Flowchart: Magnetic Disk 85">
                <a:extLst>
                  <a:ext uri="{FF2B5EF4-FFF2-40B4-BE49-F238E27FC236}">
                    <a16:creationId xmlns:a16="http://schemas.microsoft.com/office/drawing/2014/main" id="{4E698CC2-1106-C014-915E-610AC737DE05}"/>
                  </a:ext>
                </a:extLst>
              </p:cNvPr>
              <p:cNvSpPr/>
              <p:nvPr/>
            </p:nvSpPr>
            <p:spPr>
              <a:xfrm>
                <a:off x="2504851" y="1738372"/>
                <a:ext cx="787435" cy="491382"/>
              </a:xfrm>
              <a:prstGeom prst="flowChartMagneticDisk">
                <a:avLst/>
              </a:prstGeom>
              <a:solidFill>
                <a:srgbClr val="806A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B481751-E223-6639-1E10-F6D217E86395}"/>
                </a:ext>
              </a:extLst>
            </p:cNvPr>
            <p:cNvGrpSpPr/>
            <p:nvPr/>
          </p:nvGrpSpPr>
          <p:grpSpPr>
            <a:xfrm>
              <a:off x="791589" y="2507076"/>
              <a:ext cx="1186658" cy="683913"/>
              <a:chOff x="3019427" y="3544093"/>
              <a:chExt cx="1302318" cy="758400"/>
            </a:xfrm>
            <a:solidFill>
              <a:schemeClr val="bg1">
                <a:lumMod val="85000"/>
              </a:schemeClr>
            </a:solidFill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462FBBF6-0D24-0E4E-A852-53D2FF7DC8DF}"/>
                  </a:ext>
                </a:extLst>
              </p:cNvPr>
              <p:cNvSpPr/>
              <p:nvPr/>
            </p:nvSpPr>
            <p:spPr>
              <a:xfrm>
                <a:off x="3019427" y="3679825"/>
                <a:ext cx="1302318" cy="62266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E8402D2F-4128-EE98-1FD7-6A810FA4DBDC}"/>
                  </a:ext>
                </a:extLst>
              </p:cNvPr>
              <p:cNvSpPr/>
              <p:nvPr/>
            </p:nvSpPr>
            <p:spPr>
              <a:xfrm>
                <a:off x="3247251" y="3819259"/>
                <a:ext cx="236134" cy="265881"/>
              </a:xfrm>
              <a:prstGeom prst="ellips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066D60A1-08D1-4481-25B0-94CE6938414C}"/>
                  </a:ext>
                </a:extLst>
              </p:cNvPr>
              <p:cNvSpPr/>
              <p:nvPr/>
            </p:nvSpPr>
            <p:spPr>
              <a:xfrm>
                <a:off x="3844800" y="3819258"/>
                <a:ext cx="236134" cy="265882"/>
              </a:xfrm>
              <a:prstGeom prst="ellips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80B8ECF-8B70-869B-E766-DC6174851A3B}"/>
                  </a:ext>
                </a:extLst>
              </p:cNvPr>
              <p:cNvSpPr/>
              <p:nvPr/>
            </p:nvSpPr>
            <p:spPr>
              <a:xfrm>
                <a:off x="3269066" y="3865003"/>
                <a:ext cx="192505" cy="163462"/>
              </a:xfrm>
              <a:prstGeom prst="ellipse">
                <a:avLst/>
              </a:prstGeom>
              <a:grpFill/>
              <a:effectLst>
                <a:glow rad="101600">
                  <a:srgbClr val="FF0000">
                    <a:alpha val="6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0EA4DF09-E3A3-3808-6834-E0A015E0E634}"/>
                  </a:ext>
                </a:extLst>
              </p:cNvPr>
              <p:cNvSpPr/>
              <p:nvPr/>
            </p:nvSpPr>
            <p:spPr>
              <a:xfrm>
                <a:off x="3866615" y="3865003"/>
                <a:ext cx="192505" cy="163462"/>
              </a:xfrm>
              <a:prstGeom prst="ellipse">
                <a:avLst/>
              </a:prstGeom>
              <a:grpFill/>
              <a:effectLst>
                <a:glow rad="101600">
                  <a:srgbClr val="09ED03">
                    <a:alpha val="6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9" name="Minus Sign 78">
                <a:extLst>
                  <a:ext uri="{FF2B5EF4-FFF2-40B4-BE49-F238E27FC236}">
                    <a16:creationId xmlns:a16="http://schemas.microsoft.com/office/drawing/2014/main" id="{A8CEC352-F540-10A2-39BE-FA5CF35CFDEB}"/>
                  </a:ext>
                </a:extLst>
              </p:cNvPr>
              <p:cNvSpPr/>
              <p:nvPr/>
            </p:nvSpPr>
            <p:spPr>
              <a:xfrm>
                <a:off x="3226085" y="3573462"/>
                <a:ext cx="889000" cy="180975"/>
              </a:xfrm>
              <a:prstGeom prst="mathMinus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0" name="Cylinder 79">
                <a:extLst>
                  <a:ext uri="{FF2B5EF4-FFF2-40B4-BE49-F238E27FC236}">
                    <a16:creationId xmlns:a16="http://schemas.microsoft.com/office/drawing/2014/main" id="{1F0CAFFC-0FF1-E838-2272-B132BE96DCBE}"/>
                  </a:ext>
                </a:extLst>
              </p:cNvPr>
              <p:cNvSpPr/>
              <p:nvPr/>
            </p:nvSpPr>
            <p:spPr>
              <a:xfrm>
                <a:off x="3165762" y="3544093"/>
                <a:ext cx="1009650" cy="92076"/>
              </a:xfrm>
              <a:prstGeom prst="can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3B786190-198B-F567-5D37-1303897FA3CE}"/>
                  </a:ext>
                </a:extLst>
              </p:cNvPr>
              <p:cNvSpPr/>
              <p:nvPr/>
            </p:nvSpPr>
            <p:spPr>
              <a:xfrm>
                <a:off x="4162425" y="3844925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334D9272-E70D-2A33-86B6-7DC592FBBBFB}"/>
                  </a:ext>
                </a:extLst>
              </p:cNvPr>
              <p:cNvSpPr/>
              <p:nvPr/>
            </p:nvSpPr>
            <p:spPr>
              <a:xfrm>
                <a:off x="3120041" y="3844924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3" name="Flowchart: Collate 82">
                <a:extLst>
                  <a:ext uri="{FF2B5EF4-FFF2-40B4-BE49-F238E27FC236}">
                    <a16:creationId xmlns:a16="http://schemas.microsoft.com/office/drawing/2014/main" id="{D0A9E286-2253-2D84-F5A1-4B82B30DEDFA}"/>
                  </a:ext>
                </a:extLst>
              </p:cNvPr>
              <p:cNvSpPr/>
              <p:nvPr/>
            </p:nvSpPr>
            <p:spPr>
              <a:xfrm>
                <a:off x="3120041" y="3963988"/>
                <a:ext cx="45719" cy="109537"/>
              </a:xfrm>
              <a:prstGeom prst="flowChartCollat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4" name="Flowchart: Collate 83">
                <a:extLst>
                  <a:ext uri="{FF2B5EF4-FFF2-40B4-BE49-F238E27FC236}">
                    <a16:creationId xmlns:a16="http://schemas.microsoft.com/office/drawing/2014/main" id="{9859F91B-3941-2AD6-8483-BC0EF41DC1EB}"/>
                  </a:ext>
                </a:extLst>
              </p:cNvPr>
              <p:cNvSpPr/>
              <p:nvPr/>
            </p:nvSpPr>
            <p:spPr>
              <a:xfrm>
                <a:off x="4162425" y="3954438"/>
                <a:ext cx="45719" cy="109538"/>
              </a:xfrm>
              <a:prstGeom prst="flowChartCollat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C58F6F0-0192-A296-5C2B-1FB46332924C}"/>
                </a:ext>
              </a:extLst>
            </p:cNvPr>
            <p:cNvSpPr txBox="1"/>
            <p:nvPr/>
          </p:nvSpPr>
          <p:spPr>
            <a:xfrm>
              <a:off x="950331" y="3290500"/>
              <a:ext cx="11866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Solution A</a:t>
              </a:r>
            </a:p>
            <a:p>
              <a:r>
                <a:rPr lang="en-I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EDOT </a:t>
              </a:r>
            </a:p>
          </p:txBody>
        </p:sp>
        <p:sp>
          <p:nvSpPr>
            <p:cNvPr id="6" name="Plus Sign 5">
              <a:extLst>
                <a:ext uri="{FF2B5EF4-FFF2-40B4-BE49-F238E27FC236}">
                  <a16:creationId xmlns:a16="http://schemas.microsoft.com/office/drawing/2014/main" id="{93D4BAE7-E7A4-756A-C8DF-EFAB64D6F0EF}"/>
                </a:ext>
              </a:extLst>
            </p:cNvPr>
            <p:cNvSpPr/>
            <p:nvPr/>
          </p:nvSpPr>
          <p:spPr>
            <a:xfrm>
              <a:off x="2422689" y="1953435"/>
              <a:ext cx="263950" cy="287697"/>
            </a:xfrm>
            <a:prstGeom prst="mathPlus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840C3BE-1170-73B2-72D1-C58950C5A0B6}"/>
                </a:ext>
              </a:extLst>
            </p:cNvPr>
            <p:cNvGrpSpPr/>
            <p:nvPr/>
          </p:nvGrpSpPr>
          <p:grpSpPr>
            <a:xfrm>
              <a:off x="3387332" y="1654614"/>
              <a:ext cx="674156" cy="852462"/>
              <a:chOff x="2488234" y="1181353"/>
              <a:chExt cx="811867" cy="1072666"/>
            </a:xfrm>
          </p:grpSpPr>
          <p:sp>
            <p:nvSpPr>
              <p:cNvPr id="72" name="Cylinder 71">
                <a:extLst>
                  <a:ext uri="{FF2B5EF4-FFF2-40B4-BE49-F238E27FC236}">
                    <a16:creationId xmlns:a16="http://schemas.microsoft.com/office/drawing/2014/main" id="{7FD3D237-A024-FCB5-1169-6F3CAE0E3918}"/>
                  </a:ext>
                </a:extLst>
              </p:cNvPr>
              <p:cNvSpPr/>
              <p:nvPr/>
            </p:nvSpPr>
            <p:spPr>
              <a:xfrm>
                <a:off x="2488234" y="1181353"/>
                <a:ext cx="811867" cy="1072666"/>
              </a:xfrm>
              <a:prstGeom prst="can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3" name="Flowchart: Magnetic Disk 72">
                <a:extLst>
                  <a:ext uri="{FF2B5EF4-FFF2-40B4-BE49-F238E27FC236}">
                    <a16:creationId xmlns:a16="http://schemas.microsoft.com/office/drawing/2014/main" id="{0A42F5EB-825F-6039-EA09-D39EC60B866C}"/>
                  </a:ext>
                </a:extLst>
              </p:cNvPr>
              <p:cNvSpPr/>
              <p:nvPr/>
            </p:nvSpPr>
            <p:spPr>
              <a:xfrm>
                <a:off x="2504851" y="1738372"/>
                <a:ext cx="787435" cy="491382"/>
              </a:xfrm>
              <a:prstGeom prst="flowChartMagneticDisk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6E08EC-BBCB-E9E5-08E4-7B5B9DE958AC}"/>
                </a:ext>
              </a:extLst>
            </p:cNvPr>
            <p:cNvGrpSpPr/>
            <p:nvPr/>
          </p:nvGrpSpPr>
          <p:grpSpPr>
            <a:xfrm>
              <a:off x="3131081" y="2507076"/>
              <a:ext cx="1186658" cy="683913"/>
              <a:chOff x="3019427" y="3544093"/>
              <a:chExt cx="1302318" cy="758400"/>
            </a:xfrm>
            <a:solidFill>
              <a:schemeClr val="bg2">
                <a:lumMod val="90000"/>
              </a:schemeClr>
            </a:solidFill>
          </p:grpSpPr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D103A81C-5BF9-00AC-6068-302BB6059922}"/>
                  </a:ext>
                </a:extLst>
              </p:cNvPr>
              <p:cNvSpPr/>
              <p:nvPr/>
            </p:nvSpPr>
            <p:spPr>
              <a:xfrm>
                <a:off x="3019427" y="3679825"/>
                <a:ext cx="1302318" cy="62266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4B5E7684-D5B4-96F3-45D3-49F3AAABFBFE}"/>
                  </a:ext>
                </a:extLst>
              </p:cNvPr>
              <p:cNvSpPr/>
              <p:nvPr/>
            </p:nvSpPr>
            <p:spPr>
              <a:xfrm>
                <a:off x="3247251" y="3819259"/>
                <a:ext cx="236134" cy="265881"/>
              </a:xfrm>
              <a:prstGeom prst="ellips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4DCAD57-6104-0252-9500-9776AD11C32A}"/>
                  </a:ext>
                </a:extLst>
              </p:cNvPr>
              <p:cNvSpPr/>
              <p:nvPr/>
            </p:nvSpPr>
            <p:spPr>
              <a:xfrm>
                <a:off x="3844800" y="3819258"/>
                <a:ext cx="236134" cy="265882"/>
              </a:xfrm>
              <a:prstGeom prst="ellips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D45E62F-5D69-9419-45AE-D73D29CC0973}"/>
                  </a:ext>
                </a:extLst>
              </p:cNvPr>
              <p:cNvSpPr/>
              <p:nvPr/>
            </p:nvSpPr>
            <p:spPr>
              <a:xfrm>
                <a:off x="3269066" y="3865003"/>
                <a:ext cx="192505" cy="163462"/>
              </a:xfrm>
              <a:prstGeom prst="ellipse">
                <a:avLst/>
              </a:prstGeom>
              <a:grpFill/>
              <a:effectLst>
                <a:glow rad="101600">
                  <a:srgbClr val="FF0000">
                    <a:alpha val="6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0295AC0B-419A-45DC-BF40-9A2FABF0BC62}"/>
                  </a:ext>
                </a:extLst>
              </p:cNvPr>
              <p:cNvSpPr/>
              <p:nvPr/>
            </p:nvSpPr>
            <p:spPr>
              <a:xfrm>
                <a:off x="3866615" y="3865003"/>
                <a:ext cx="192505" cy="163462"/>
              </a:xfrm>
              <a:prstGeom prst="ellipse">
                <a:avLst/>
              </a:prstGeom>
              <a:grpFill/>
              <a:effectLst>
                <a:glow rad="101600">
                  <a:srgbClr val="09ED03">
                    <a:alpha val="6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6" name="Minus Sign 65">
                <a:extLst>
                  <a:ext uri="{FF2B5EF4-FFF2-40B4-BE49-F238E27FC236}">
                    <a16:creationId xmlns:a16="http://schemas.microsoft.com/office/drawing/2014/main" id="{5F0BEC81-C0ED-F4CE-B613-20B2F4C6D23E}"/>
                  </a:ext>
                </a:extLst>
              </p:cNvPr>
              <p:cNvSpPr/>
              <p:nvPr/>
            </p:nvSpPr>
            <p:spPr>
              <a:xfrm>
                <a:off x="3226085" y="3573462"/>
                <a:ext cx="889000" cy="180975"/>
              </a:xfrm>
              <a:prstGeom prst="mathMinus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7" name="Cylinder 66">
                <a:extLst>
                  <a:ext uri="{FF2B5EF4-FFF2-40B4-BE49-F238E27FC236}">
                    <a16:creationId xmlns:a16="http://schemas.microsoft.com/office/drawing/2014/main" id="{C7775844-9C90-3EF5-3261-9F057F1199C6}"/>
                  </a:ext>
                </a:extLst>
              </p:cNvPr>
              <p:cNvSpPr/>
              <p:nvPr/>
            </p:nvSpPr>
            <p:spPr>
              <a:xfrm>
                <a:off x="3165762" y="3544093"/>
                <a:ext cx="1009650" cy="92076"/>
              </a:xfrm>
              <a:prstGeom prst="can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24A84247-A53F-67A2-0AB8-1FBAA2E55C3B}"/>
                  </a:ext>
                </a:extLst>
              </p:cNvPr>
              <p:cNvSpPr/>
              <p:nvPr/>
            </p:nvSpPr>
            <p:spPr>
              <a:xfrm>
                <a:off x="4162425" y="3844925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8BA2B492-6088-72D5-C9A7-4F0792FF79FB}"/>
                  </a:ext>
                </a:extLst>
              </p:cNvPr>
              <p:cNvSpPr/>
              <p:nvPr/>
            </p:nvSpPr>
            <p:spPr>
              <a:xfrm>
                <a:off x="3120041" y="3844924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0" name="Flowchart: Collate 69">
                <a:extLst>
                  <a:ext uri="{FF2B5EF4-FFF2-40B4-BE49-F238E27FC236}">
                    <a16:creationId xmlns:a16="http://schemas.microsoft.com/office/drawing/2014/main" id="{AAA91ABE-3DDB-FEA6-0C5C-B190723ACD57}"/>
                  </a:ext>
                </a:extLst>
              </p:cNvPr>
              <p:cNvSpPr/>
              <p:nvPr/>
            </p:nvSpPr>
            <p:spPr>
              <a:xfrm>
                <a:off x="3120041" y="3963988"/>
                <a:ext cx="45719" cy="109537"/>
              </a:xfrm>
              <a:prstGeom prst="flowChartCollat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1" name="Flowchart: Collate 70">
                <a:extLst>
                  <a:ext uri="{FF2B5EF4-FFF2-40B4-BE49-F238E27FC236}">
                    <a16:creationId xmlns:a16="http://schemas.microsoft.com/office/drawing/2014/main" id="{CCF3B046-254C-4C34-CAC5-A1D4F8F909FC}"/>
                  </a:ext>
                </a:extLst>
              </p:cNvPr>
              <p:cNvSpPr/>
              <p:nvPr/>
            </p:nvSpPr>
            <p:spPr>
              <a:xfrm>
                <a:off x="4162425" y="3954438"/>
                <a:ext cx="45719" cy="109538"/>
              </a:xfrm>
              <a:prstGeom prst="flowChartCollat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1A872C1-E4DA-9113-03C6-7EFA622CA2B6}"/>
                </a:ext>
              </a:extLst>
            </p:cNvPr>
            <p:cNvCxnSpPr>
              <a:cxnSpLocks/>
            </p:cNvCxnSpPr>
            <p:nvPr/>
          </p:nvCxnSpPr>
          <p:spPr>
            <a:xfrm>
              <a:off x="4849046" y="2255057"/>
              <a:ext cx="8154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1B8354-73D1-90CB-2139-6AC467470A48}"/>
                </a:ext>
              </a:extLst>
            </p:cNvPr>
            <p:cNvSpPr txBox="1"/>
            <p:nvPr/>
          </p:nvSpPr>
          <p:spPr>
            <a:xfrm>
              <a:off x="4449615" y="1904964"/>
              <a:ext cx="1656113" cy="613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I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Addition of solution B          to solution 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54F883-EA26-6F5E-DB75-214A65FE1E2B}"/>
                </a:ext>
              </a:extLst>
            </p:cNvPr>
            <p:cNvSpPr txBox="1"/>
            <p:nvPr/>
          </p:nvSpPr>
          <p:spPr>
            <a:xfrm>
              <a:off x="3358549" y="3290499"/>
              <a:ext cx="11866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Solution B</a:t>
              </a:r>
            </a:p>
            <a:p>
              <a:r>
                <a:rPr lang="en-I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FeCl</a:t>
              </a:r>
              <a:r>
                <a:rPr lang="en-IN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D470F-5B57-FBC1-DBE8-6E9DF920E3ED}"/>
                </a:ext>
              </a:extLst>
            </p:cNvPr>
            <p:cNvGrpSpPr/>
            <p:nvPr/>
          </p:nvGrpSpPr>
          <p:grpSpPr>
            <a:xfrm>
              <a:off x="6370941" y="1635330"/>
              <a:ext cx="674156" cy="852462"/>
              <a:chOff x="2488234" y="1181353"/>
              <a:chExt cx="811867" cy="1072666"/>
            </a:xfrm>
          </p:grpSpPr>
          <p:sp>
            <p:nvSpPr>
              <p:cNvPr id="59" name="Cylinder 58">
                <a:extLst>
                  <a:ext uri="{FF2B5EF4-FFF2-40B4-BE49-F238E27FC236}">
                    <a16:creationId xmlns:a16="http://schemas.microsoft.com/office/drawing/2014/main" id="{4AA79FD8-AB15-077F-7084-73DDEA381061}"/>
                  </a:ext>
                </a:extLst>
              </p:cNvPr>
              <p:cNvSpPr/>
              <p:nvPr/>
            </p:nvSpPr>
            <p:spPr>
              <a:xfrm>
                <a:off x="2488234" y="1181353"/>
                <a:ext cx="811867" cy="1072666"/>
              </a:xfrm>
              <a:prstGeom prst="can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0" name="Flowchart: Magnetic Disk 59">
                <a:extLst>
                  <a:ext uri="{FF2B5EF4-FFF2-40B4-BE49-F238E27FC236}">
                    <a16:creationId xmlns:a16="http://schemas.microsoft.com/office/drawing/2014/main" id="{A1C7115F-E733-6C49-D071-7E1F25939D6C}"/>
                  </a:ext>
                </a:extLst>
              </p:cNvPr>
              <p:cNvSpPr/>
              <p:nvPr/>
            </p:nvSpPr>
            <p:spPr>
              <a:xfrm>
                <a:off x="2504851" y="1738372"/>
                <a:ext cx="787435" cy="491382"/>
              </a:xfrm>
              <a:prstGeom prst="flowChartMagneticDisk">
                <a:avLst/>
              </a:prstGeom>
              <a:solidFill>
                <a:srgbClr val="806A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CFB87AE-7886-23D3-DD95-9FE3B4116C5D}"/>
                </a:ext>
              </a:extLst>
            </p:cNvPr>
            <p:cNvGrpSpPr/>
            <p:nvPr/>
          </p:nvGrpSpPr>
          <p:grpSpPr>
            <a:xfrm>
              <a:off x="6114690" y="2487792"/>
              <a:ext cx="1186658" cy="683913"/>
              <a:chOff x="3019427" y="3544093"/>
              <a:chExt cx="1302318" cy="758400"/>
            </a:xfrm>
            <a:solidFill>
              <a:schemeClr val="bg2">
                <a:lumMod val="90000"/>
              </a:schemeClr>
            </a:solidFill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6023C86E-23A4-0143-84C1-5445CD85C4CF}"/>
                  </a:ext>
                </a:extLst>
              </p:cNvPr>
              <p:cNvSpPr/>
              <p:nvPr/>
            </p:nvSpPr>
            <p:spPr>
              <a:xfrm>
                <a:off x="3019427" y="3679825"/>
                <a:ext cx="1302318" cy="62266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96FE8D7-4703-A614-74D5-570D99A49D26}"/>
                  </a:ext>
                </a:extLst>
              </p:cNvPr>
              <p:cNvSpPr/>
              <p:nvPr/>
            </p:nvSpPr>
            <p:spPr>
              <a:xfrm>
                <a:off x="3247251" y="3819259"/>
                <a:ext cx="236134" cy="265881"/>
              </a:xfrm>
              <a:prstGeom prst="ellips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94B6185-0C89-3BBF-F114-AEB41E135C61}"/>
                  </a:ext>
                </a:extLst>
              </p:cNvPr>
              <p:cNvSpPr/>
              <p:nvPr/>
            </p:nvSpPr>
            <p:spPr>
              <a:xfrm>
                <a:off x="3844800" y="3819258"/>
                <a:ext cx="236134" cy="265882"/>
              </a:xfrm>
              <a:prstGeom prst="ellips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92B130D4-E241-0D6F-4871-5A30A3277B25}"/>
                  </a:ext>
                </a:extLst>
              </p:cNvPr>
              <p:cNvSpPr/>
              <p:nvPr/>
            </p:nvSpPr>
            <p:spPr>
              <a:xfrm>
                <a:off x="3269066" y="3865003"/>
                <a:ext cx="192505" cy="163462"/>
              </a:xfrm>
              <a:prstGeom prst="ellipse">
                <a:avLst/>
              </a:prstGeom>
              <a:grpFill/>
              <a:effectLst>
                <a:glow rad="101600">
                  <a:srgbClr val="FF0000">
                    <a:alpha val="6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EA531C8-4142-A138-2B98-DF4904A26267}"/>
                  </a:ext>
                </a:extLst>
              </p:cNvPr>
              <p:cNvSpPr/>
              <p:nvPr/>
            </p:nvSpPr>
            <p:spPr>
              <a:xfrm>
                <a:off x="3866615" y="3865003"/>
                <a:ext cx="192505" cy="163462"/>
              </a:xfrm>
              <a:prstGeom prst="ellipse">
                <a:avLst/>
              </a:prstGeom>
              <a:grpFill/>
              <a:effectLst>
                <a:glow rad="101600">
                  <a:srgbClr val="09ED03">
                    <a:alpha val="6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3" name="Minus Sign 52">
                <a:extLst>
                  <a:ext uri="{FF2B5EF4-FFF2-40B4-BE49-F238E27FC236}">
                    <a16:creationId xmlns:a16="http://schemas.microsoft.com/office/drawing/2014/main" id="{46A4F019-1666-C7EE-5DBC-54B48CEA6DDA}"/>
                  </a:ext>
                </a:extLst>
              </p:cNvPr>
              <p:cNvSpPr/>
              <p:nvPr/>
            </p:nvSpPr>
            <p:spPr>
              <a:xfrm>
                <a:off x="3226085" y="3573462"/>
                <a:ext cx="889000" cy="180975"/>
              </a:xfrm>
              <a:prstGeom prst="mathMinus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4" name="Cylinder 53">
                <a:extLst>
                  <a:ext uri="{FF2B5EF4-FFF2-40B4-BE49-F238E27FC236}">
                    <a16:creationId xmlns:a16="http://schemas.microsoft.com/office/drawing/2014/main" id="{ABB03B0C-DECC-0F86-DB88-EC153A5F3EDF}"/>
                  </a:ext>
                </a:extLst>
              </p:cNvPr>
              <p:cNvSpPr/>
              <p:nvPr/>
            </p:nvSpPr>
            <p:spPr>
              <a:xfrm>
                <a:off x="3165762" y="3544093"/>
                <a:ext cx="1009650" cy="92076"/>
              </a:xfrm>
              <a:prstGeom prst="can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1E8808EA-52C8-B828-1BB4-DA11475EF446}"/>
                  </a:ext>
                </a:extLst>
              </p:cNvPr>
              <p:cNvSpPr/>
              <p:nvPr/>
            </p:nvSpPr>
            <p:spPr>
              <a:xfrm>
                <a:off x="4162425" y="3844925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D4C1CDCC-522B-34FB-31C8-3A052DDCA64A}"/>
                  </a:ext>
                </a:extLst>
              </p:cNvPr>
              <p:cNvSpPr/>
              <p:nvPr/>
            </p:nvSpPr>
            <p:spPr>
              <a:xfrm>
                <a:off x="3120041" y="3844924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Flowchart: Collate 56">
                <a:extLst>
                  <a:ext uri="{FF2B5EF4-FFF2-40B4-BE49-F238E27FC236}">
                    <a16:creationId xmlns:a16="http://schemas.microsoft.com/office/drawing/2014/main" id="{1C3A9CE8-F641-3AC3-D512-1AE15FC910CA}"/>
                  </a:ext>
                </a:extLst>
              </p:cNvPr>
              <p:cNvSpPr/>
              <p:nvPr/>
            </p:nvSpPr>
            <p:spPr>
              <a:xfrm>
                <a:off x="3120041" y="3963988"/>
                <a:ext cx="45719" cy="109537"/>
              </a:xfrm>
              <a:prstGeom prst="flowChartCollat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" name="Flowchart: Collate 57">
                <a:extLst>
                  <a:ext uri="{FF2B5EF4-FFF2-40B4-BE49-F238E27FC236}">
                    <a16:creationId xmlns:a16="http://schemas.microsoft.com/office/drawing/2014/main" id="{511AA908-6AC1-CDE5-DA12-1930A9C5A6E6}"/>
                  </a:ext>
                </a:extLst>
              </p:cNvPr>
              <p:cNvSpPr/>
              <p:nvPr/>
            </p:nvSpPr>
            <p:spPr>
              <a:xfrm>
                <a:off x="4162425" y="3954438"/>
                <a:ext cx="45719" cy="109538"/>
              </a:xfrm>
              <a:prstGeom prst="flowChartCollat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CA20663-BA83-435B-ED4C-2313D41E6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6368" y="524811"/>
              <a:ext cx="1058960" cy="1058960"/>
            </a:xfrm>
            <a:prstGeom prst="rect">
              <a:avLst/>
            </a:prstGeom>
          </p:spPr>
        </p:pic>
        <p:sp>
          <p:nvSpPr>
            <p:cNvPr id="15" name="Teardrop 14">
              <a:extLst>
                <a:ext uri="{FF2B5EF4-FFF2-40B4-BE49-F238E27FC236}">
                  <a16:creationId xmlns:a16="http://schemas.microsoft.com/office/drawing/2014/main" id="{33B52C03-B9FB-F950-9592-28660AFD8CFB}"/>
                </a:ext>
              </a:extLst>
            </p:cNvPr>
            <p:cNvSpPr/>
            <p:nvPr/>
          </p:nvSpPr>
          <p:spPr>
            <a:xfrm rot="18560594">
              <a:off x="6644914" y="1882990"/>
              <a:ext cx="126206" cy="102640"/>
            </a:xfrm>
            <a:prstGeom prst="teardrop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796BDC5-99FD-55DF-F01D-0347EDBFFDF9}"/>
                </a:ext>
              </a:extLst>
            </p:cNvPr>
            <p:cNvCxnSpPr/>
            <p:nvPr/>
          </p:nvCxnSpPr>
          <p:spPr>
            <a:xfrm>
              <a:off x="7684515" y="2241132"/>
              <a:ext cx="8096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lowchart: Terminator 16">
              <a:extLst>
                <a:ext uri="{FF2B5EF4-FFF2-40B4-BE49-F238E27FC236}">
                  <a16:creationId xmlns:a16="http://schemas.microsoft.com/office/drawing/2014/main" id="{F8C3F322-5216-C7F7-0E00-A55B64CCCC91}"/>
                </a:ext>
              </a:extLst>
            </p:cNvPr>
            <p:cNvSpPr/>
            <p:nvPr/>
          </p:nvSpPr>
          <p:spPr>
            <a:xfrm>
              <a:off x="6886638" y="1442301"/>
              <a:ext cx="692513" cy="134573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1D9E83-B73E-9A5D-389B-D0C190CE3490}"/>
                </a:ext>
              </a:extLst>
            </p:cNvPr>
            <p:cNvSpPr txBox="1"/>
            <p:nvPr/>
          </p:nvSpPr>
          <p:spPr>
            <a:xfrm>
              <a:off x="6974342" y="1353878"/>
              <a:ext cx="81004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FeCl</a:t>
              </a:r>
              <a:r>
                <a:rPr lang="en-IN" sz="1200" b="0" i="0" baseline="-25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68CAAA0-A807-1A4C-4BC8-1638AC01ACB2}"/>
                </a:ext>
              </a:extLst>
            </p:cNvPr>
            <p:cNvSpPr txBox="1"/>
            <p:nvPr/>
          </p:nvSpPr>
          <p:spPr>
            <a:xfrm>
              <a:off x="7370423" y="1916191"/>
              <a:ext cx="2130457" cy="613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Kept in constant stirring @90°C for 0.5h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1127318-9A02-73DA-5E97-F15FE0558F97}"/>
                </a:ext>
              </a:extLst>
            </p:cNvPr>
            <p:cNvGrpSpPr/>
            <p:nvPr/>
          </p:nvGrpSpPr>
          <p:grpSpPr>
            <a:xfrm>
              <a:off x="9361972" y="1636581"/>
              <a:ext cx="682640" cy="852462"/>
              <a:chOff x="2488234" y="1181353"/>
              <a:chExt cx="811867" cy="1072666"/>
            </a:xfrm>
          </p:grpSpPr>
          <p:sp>
            <p:nvSpPr>
              <p:cNvPr id="46" name="Cylinder 45">
                <a:extLst>
                  <a:ext uri="{FF2B5EF4-FFF2-40B4-BE49-F238E27FC236}">
                    <a16:creationId xmlns:a16="http://schemas.microsoft.com/office/drawing/2014/main" id="{EE33FA2E-2B4C-F78D-4E84-1EC58651D03D}"/>
                  </a:ext>
                </a:extLst>
              </p:cNvPr>
              <p:cNvSpPr/>
              <p:nvPr/>
            </p:nvSpPr>
            <p:spPr>
              <a:xfrm>
                <a:off x="2488234" y="1181353"/>
                <a:ext cx="811867" cy="1072666"/>
              </a:xfrm>
              <a:prstGeom prst="can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7" name="Flowchart: Magnetic Disk 46">
                <a:extLst>
                  <a:ext uri="{FF2B5EF4-FFF2-40B4-BE49-F238E27FC236}">
                    <a16:creationId xmlns:a16="http://schemas.microsoft.com/office/drawing/2014/main" id="{ADCB21A3-CC38-5707-4FCB-245D8F25BFEE}"/>
                  </a:ext>
                </a:extLst>
              </p:cNvPr>
              <p:cNvSpPr/>
              <p:nvPr/>
            </p:nvSpPr>
            <p:spPr>
              <a:xfrm>
                <a:off x="2500449" y="1756833"/>
                <a:ext cx="787435" cy="491382"/>
              </a:xfrm>
              <a:prstGeom prst="flowChartMagneticDisk">
                <a:avLst/>
              </a:prstGeom>
              <a:solidFill>
                <a:srgbClr val="27144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AF8D0BC-A1AB-129A-7094-4E4757E3C8AE}"/>
                </a:ext>
              </a:extLst>
            </p:cNvPr>
            <p:cNvGrpSpPr/>
            <p:nvPr/>
          </p:nvGrpSpPr>
          <p:grpSpPr>
            <a:xfrm>
              <a:off x="9109962" y="2497319"/>
              <a:ext cx="1186658" cy="697122"/>
              <a:chOff x="3019427" y="3544093"/>
              <a:chExt cx="1302318" cy="758400"/>
            </a:xfrm>
            <a:solidFill>
              <a:schemeClr val="bg2">
                <a:lumMod val="90000"/>
              </a:schemeClr>
            </a:solidFill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53CB6540-E436-86F4-3D0B-AA81B77B0AA4}"/>
                  </a:ext>
                </a:extLst>
              </p:cNvPr>
              <p:cNvSpPr/>
              <p:nvPr/>
            </p:nvSpPr>
            <p:spPr>
              <a:xfrm>
                <a:off x="3019427" y="3679825"/>
                <a:ext cx="1302318" cy="62266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1410AE2-90A1-1621-694B-4E5F29ED26AD}"/>
                  </a:ext>
                </a:extLst>
              </p:cNvPr>
              <p:cNvSpPr/>
              <p:nvPr/>
            </p:nvSpPr>
            <p:spPr>
              <a:xfrm>
                <a:off x="3247251" y="3819259"/>
                <a:ext cx="236134" cy="265881"/>
              </a:xfrm>
              <a:prstGeom prst="ellips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9F0B34C-C99B-6096-2E26-EAE3E33AAC38}"/>
                  </a:ext>
                </a:extLst>
              </p:cNvPr>
              <p:cNvSpPr/>
              <p:nvPr/>
            </p:nvSpPr>
            <p:spPr>
              <a:xfrm>
                <a:off x="3844800" y="3819258"/>
                <a:ext cx="236134" cy="265882"/>
              </a:xfrm>
              <a:prstGeom prst="ellips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C906BD4-84B3-6CF2-DD37-7875BD17BC08}"/>
                  </a:ext>
                </a:extLst>
              </p:cNvPr>
              <p:cNvSpPr/>
              <p:nvPr/>
            </p:nvSpPr>
            <p:spPr>
              <a:xfrm>
                <a:off x="3269066" y="3865003"/>
                <a:ext cx="192505" cy="163462"/>
              </a:xfrm>
              <a:prstGeom prst="ellipse">
                <a:avLst/>
              </a:prstGeom>
              <a:grpFill/>
              <a:effectLst>
                <a:glow rad="101600">
                  <a:srgbClr val="FF0000">
                    <a:alpha val="6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A496D1A4-8A76-23CA-231E-7872A4EDC5C3}"/>
                  </a:ext>
                </a:extLst>
              </p:cNvPr>
              <p:cNvSpPr/>
              <p:nvPr/>
            </p:nvSpPr>
            <p:spPr>
              <a:xfrm>
                <a:off x="3866615" y="3865003"/>
                <a:ext cx="192505" cy="163462"/>
              </a:xfrm>
              <a:prstGeom prst="ellipse">
                <a:avLst/>
              </a:prstGeom>
              <a:grpFill/>
              <a:effectLst>
                <a:glow rad="101600">
                  <a:srgbClr val="09ED03">
                    <a:alpha val="6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0" name="Minus Sign 39">
                <a:extLst>
                  <a:ext uri="{FF2B5EF4-FFF2-40B4-BE49-F238E27FC236}">
                    <a16:creationId xmlns:a16="http://schemas.microsoft.com/office/drawing/2014/main" id="{BBF3AFDA-C14D-481D-5002-F1D9BA7A8AE9}"/>
                  </a:ext>
                </a:extLst>
              </p:cNvPr>
              <p:cNvSpPr/>
              <p:nvPr/>
            </p:nvSpPr>
            <p:spPr>
              <a:xfrm>
                <a:off x="3226085" y="3573462"/>
                <a:ext cx="889000" cy="180975"/>
              </a:xfrm>
              <a:prstGeom prst="mathMinus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1" name="Cylinder 40">
                <a:extLst>
                  <a:ext uri="{FF2B5EF4-FFF2-40B4-BE49-F238E27FC236}">
                    <a16:creationId xmlns:a16="http://schemas.microsoft.com/office/drawing/2014/main" id="{526E331F-5999-FAD1-CE76-68C5F013156A}"/>
                  </a:ext>
                </a:extLst>
              </p:cNvPr>
              <p:cNvSpPr/>
              <p:nvPr/>
            </p:nvSpPr>
            <p:spPr>
              <a:xfrm>
                <a:off x="3165762" y="3544093"/>
                <a:ext cx="1009650" cy="92076"/>
              </a:xfrm>
              <a:prstGeom prst="can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7D4505E-77C0-BBE2-44E8-1EF629029C04}"/>
                  </a:ext>
                </a:extLst>
              </p:cNvPr>
              <p:cNvSpPr/>
              <p:nvPr/>
            </p:nvSpPr>
            <p:spPr>
              <a:xfrm>
                <a:off x="4162425" y="3844925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0F4254B-470D-74FF-E826-194DCE11822A}"/>
                  </a:ext>
                </a:extLst>
              </p:cNvPr>
              <p:cNvSpPr/>
              <p:nvPr/>
            </p:nvSpPr>
            <p:spPr>
              <a:xfrm>
                <a:off x="3120041" y="3844924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4" name="Flowchart: Collate 43">
                <a:extLst>
                  <a:ext uri="{FF2B5EF4-FFF2-40B4-BE49-F238E27FC236}">
                    <a16:creationId xmlns:a16="http://schemas.microsoft.com/office/drawing/2014/main" id="{EF8B3D7D-D47A-B308-FF6A-60EC82F8F160}"/>
                  </a:ext>
                </a:extLst>
              </p:cNvPr>
              <p:cNvSpPr/>
              <p:nvPr/>
            </p:nvSpPr>
            <p:spPr>
              <a:xfrm>
                <a:off x="3120041" y="3963988"/>
                <a:ext cx="45719" cy="109537"/>
              </a:xfrm>
              <a:prstGeom prst="flowChartCollat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5" name="Flowchart: Collate 44">
                <a:extLst>
                  <a:ext uri="{FF2B5EF4-FFF2-40B4-BE49-F238E27FC236}">
                    <a16:creationId xmlns:a16="http://schemas.microsoft.com/office/drawing/2014/main" id="{EE7C3174-A12A-8332-849A-D0EAA97E7834}"/>
                  </a:ext>
                </a:extLst>
              </p:cNvPr>
              <p:cNvSpPr/>
              <p:nvPr/>
            </p:nvSpPr>
            <p:spPr>
              <a:xfrm>
                <a:off x="4162425" y="3954438"/>
                <a:ext cx="45719" cy="109538"/>
              </a:xfrm>
              <a:prstGeom prst="flowChartCollat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b="1" u="sng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85DEF51-2809-5AE9-A86C-BD0FD4544FE1}"/>
                </a:ext>
              </a:extLst>
            </p:cNvPr>
            <p:cNvSpPr txBox="1"/>
            <p:nvPr/>
          </p:nvSpPr>
          <p:spPr>
            <a:xfrm>
              <a:off x="6318361" y="3284787"/>
              <a:ext cx="12997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Solution A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4DB1F38-DBD5-59A2-95EA-0F745C39207B}"/>
                </a:ext>
              </a:extLst>
            </p:cNvPr>
            <p:cNvSpPr txBox="1"/>
            <p:nvPr/>
          </p:nvSpPr>
          <p:spPr>
            <a:xfrm>
              <a:off x="9243299" y="3284786"/>
              <a:ext cx="11866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Solution A+B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0628C7-59F5-65A9-D6ED-7986774F2818}"/>
                </a:ext>
              </a:extLst>
            </p:cNvPr>
            <p:cNvCxnSpPr/>
            <p:nvPr/>
          </p:nvCxnSpPr>
          <p:spPr>
            <a:xfrm>
              <a:off x="10274333" y="2276161"/>
              <a:ext cx="89535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3D2971F-E4D5-04D5-BEB8-395A9C2AA1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9683" y="2276161"/>
              <a:ext cx="9525" cy="20767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D91937-8B52-E3E3-D7CF-F9FEC70FC0E8}"/>
                </a:ext>
              </a:extLst>
            </p:cNvPr>
            <p:cNvSpPr txBox="1"/>
            <p:nvPr/>
          </p:nvSpPr>
          <p:spPr>
            <a:xfrm>
              <a:off x="11169683" y="2748146"/>
              <a:ext cx="9746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Solution transferred to vacuum flask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323A0F3-27A2-E2C4-4D70-C63CB34FD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3108" y="4504685"/>
              <a:ext cx="1856540" cy="1710964"/>
            </a:xfrm>
            <a:prstGeom prst="rect">
              <a:avLst/>
            </a:prstGeom>
          </p:spPr>
        </p:pic>
        <p:sp>
          <p:nvSpPr>
            <p:cNvPr id="28" name="Flowchart: Terminator 27">
              <a:extLst>
                <a:ext uri="{FF2B5EF4-FFF2-40B4-BE49-F238E27FC236}">
                  <a16:creationId xmlns:a16="http://schemas.microsoft.com/office/drawing/2014/main" id="{007B5E12-0AAE-271C-8298-DE7DCBE8DF93}"/>
                </a:ext>
              </a:extLst>
            </p:cNvPr>
            <p:cNvSpPr/>
            <p:nvPr/>
          </p:nvSpPr>
          <p:spPr>
            <a:xfrm>
              <a:off x="10765409" y="5627802"/>
              <a:ext cx="782425" cy="254524"/>
            </a:xfrm>
            <a:prstGeom prst="flowChartTerminator">
              <a:avLst/>
            </a:prstGeom>
            <a:solidFill>
              <a:srgbClr val="27144C"/>
            </a:solidFill>
            <a:ln>
              <a:solidFill>
                <a:srgbClr val="27144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206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B664FD9-F1BD-A5AE-328C-AC61D072CA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85781" y="5283826"/>
              <a:ext cx="11838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37F3F5B-2EAA-48AD-C601-203E8998191A}"/>
                </a:ext>
              </a:extLst>
            </p:cNvPr>
            <p:cNvSpPr txBox="1"/>
            <p:nvPr/>
          </p:nvSpPr>
          <p:spPr>
            <a:xfrm>
              <a:off x="8904385" y="4937900"/>
              <a:ext cx="2130457" cy="8901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Freeze dried </a:t>
              </a:r>
            </a:p>
            <a:p>
              <a:pPr>
                <a:lnSpc>
                  <a:spcPct val="150000"/>
                </a:lnSpc>
              </a:pPr>
              <a:r>
                <a:rPr lang="en-I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stored</a:t>
              </a:r>
            </a:p>
            <a:p>
              <a:pPr>
                <a:lnSpc>
                  <a:spcPct val="150000"/>
                </a:lnSpc>
              </a:pPr>
              <a:r>
                <a:rPr lang="en-I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After grinding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A748C93-2147-474A-975E-604A44CC3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7566" y="4786660"/>
              <a:ext cx="1501465" cy="84413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6D90A32-AD8C-7109-D987-921CD3271C88}"/>
                </a:ext>
              </a:extLst>
            </p:cNvPr>
            <p:cNvSpPr txBox="1"/>
            <p:nvPr/>
          </p:nvSpPr>
          <p:spPr>
            <a:xfrm>
              <a:off x="6744703" y="5446181"/>
              <a:ext cx="1344624" cy="4361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3150"/>
                </a:lnSpc>
                <a:spcBef>
                  <a:spcPts val="1200"/>
                </a:spcBef>
                <a:spcAft>
                  <a:spcPts val="1200"/>
                </a:spcAft>
              </a:pPr>
              <a:r>
                <a:rPr lang="en-IN" sz="1200" b="1" i="0" baseline="-25000" dirty="0">
                  <a:solidFill>
                    <a:srgbClr val="1F1F1F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PEDOT PSS Powder  </a:t>
              </a:r>
              <a:endParaRPr lang="en-IN" sz="1200" b="1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26EF187-AC0C-F895-83E0-0CF60FF07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57" y="844686"/>
              <a:ext cx="653246" cy="653246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263868A-FC47-EE3B-4E4C-81F458F0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6253" y="1015867"/>
              <a:ext cx="505076" cy="505076"/>
            </a:xfrm>
            <a:prstGeom prst="rect">
              <a:avLst/>
            </a:prstGeom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5B06F368-017C-194C-F66D-84D720F04820}"/>
              </a:ext>
            </a:extLst>
          </p:cNvPr>
          <p:cNvSpPr txBox="1"/>
          <p:nvPr/>
        </p:nvSpPr>
        <p:spPr>
          <a:xfrm>
            <a:off x="2891173" y="114199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of PEDOT-PSS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16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41442-3D4F-0E7E-0E48-5F361532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471A-ADFD-D699-30EE-F1B263AB1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FE-SEM Analysis of PEDOT:PSS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757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D56D83F-3057-4160-F078-A524FCC6B723}"/>
              </a:ext>
            </a:extLst>
          </p:cNvPr>
          <p:cNvGrpSpPr/>
          <p:nvPr/>
        </p:nvGrpSpPr>
        <p:grpSpPr>
          <a:xfrm>
            <a:off x="633573" y="1602768"/>
            <a:ext cx="10924853" cy="4006921"/>
            <a:chOff x="260280" y="1571946"/>
            <a:chExt cx="10924853" cy="400692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E74FDA-85BE-EC3B-5646-6EC6F7D44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280" y="1571946"/>
              <a:ext cx="5342562" cy="400692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97365E9-B5FA-0634-D6B9-91E7EDE77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2572" y="1571946"/>
              <a:ext cx="5342561" cy="40069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0968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CCCAC-4CE3-2410-6F12-FB62939EF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4EFF3-ED8A-581A-DB05-2437DE166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FE-SEM Analysis of MoS</a:t>
            </a:r>
            <a:r>
              <a:rPr 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02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352EF2-CC56-8A6D-38CD-DE643BB82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31" y="1236109"/>
            <a:ext cx="5621676" cy="42162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6F3EA7-7FC0-7E34-CC67-A7A5B1C3A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758" y="1236109"/>
            <a:ext cx="5621676" cy="42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6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3ED6D-190F-DFEF-31B7-02B2EF271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050EC-CFF2-3273-47C2-151B8A2CC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FE-SEM Analysis of PEDOT:PSS/MoS</a:t>
            </a:r>
            <a:r>
              <a:rPr 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96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CF028F-08B8-53E9-99AB-DB69530B4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65" y="1530849"/>
            <a:ext cx="5541195" cy="4155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71CE45-AE04-29C4-E318-78FCE604E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30849"/>
            <a:ext cx="5541195" cy="415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94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8986E-FBAC-511C-C121-A30A416D6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FTIR SPECTRUM PEDOT:PSS/MoS</a:t>
            </a:r>
            <a:r>
              <a:rPr 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802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887D14D-4C29-7D56-BE29-ECA298B02CD8}"/>
              </a:ext>
            </a:extLst>
          </p:cNvPr>
          <p:cNvGrpSpPr/>
          <p:nvPr/>
        </p:nvGrpSpPr>
        <p:grpSpPr>
          <a:xfrm>
            <a:off x="1985942" y="322938"/>
            <a:ext cx="7973538" cy="6535062"/>
            <a:chOff x="2109231" y="161469"/>
            <a:chExt cx="7973538" cy="653506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65E6912-44D7-5CD8-E9C4-1D5B87DD8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9231" y="161469"/>
              <a:ext cx="7973538" cy="65350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5CA8C96-D92A-CA7A-B459-9F0763FD1633}"/>
                </a:ext>
              </a:extLst>
            </p:cNvPr>
            <p:cNvGrpSpPr/>
            <p:nvPr/>
          </p:nvGrpSpPr>
          <p:grpSpPr>
            <a:xfrm>
              <a:off x="3086100" y="889000"/>
              <a:ext cx="5266790" cy="1953215"/>
              <a:chOff x="3086100" y="889000"/>
              <a:chExt cx="5266790" cy="1953215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26846F-5E22-C277-4380-5BEC42B238EA}"/>
                  </a:ext>
                </a:extLst>
              </p:cNvPr>
              <p:cNvSpPr txBox="1"/>
              <p:nvPr/>
            </p:nvSpPr>
            <p:spPr>
              <a:xfrm>
                <a:off x="3086100" y="889000"/>
                <a:ext cx="52667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PEDOT-PSS/MoS</a:t>
                </a:r>
                <a:r>
                  <a:rPr lang="en-US" sz="28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endParaRPr lang="en-IN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59DFF0-87A1-0F7B-500B-D704B5FFAF3A}"/>
                  </a:ext>
                </a:extLst>
              </p:cNvPr>
              <p:cNvSpPr txBox="1"/>
              <p:nvPr/>
            </p:nvSpPr>
            <p:spPr>
              <a:xfrm>
                <a:off x="3368496" y="2257440"/>
                <a:ext cx="3327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</a:t>
                </a:r>
                <a:r>
                  <a:rPr lang="en-US" sz="3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endParaRPr lang="en-IN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84B22B-FED0-E630-3808-CEA572592332}"/>
                </a:ext>
              </a:extLst>
            </p:cNvPr>
            <p:cNvSpPr txBox="1"/>
            <p:nvPr/>
          </p:nvSpPr>
          <p:spPr>
            <a:xfrm>
              <a:off x="3192694" y="4015786"/>
              <a:ext cx="609771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PEDOT-PSS</a:t>
              </a:r>
              <a:endParaRPr lang="en-IN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574259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E46D6-1CFC-FE68-635A-CC722F17A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8A125D-25F6-F44F-16A9-7E2014DDBEEA}"/>
              </a:ext>
            </a:extLst>
          </p:cNvPr>
          <p:cNvSpPr txBox="1"/>
          <p:nvPr/>
        </p:nvSpPr>
        <p:spPr>
          <a:xfrm>
            <a:off x="852755" y="477077"/>
            <a:ext cx="10148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FTIR Spectral Analysis 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DD6857-8B81-8862-B25D-D7017CAD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326" y="1865710"/>
            <a:ext cx="987346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FTIR spectra display characteristic peaks of PEDOT:PSS and MoS₂, confirming the presence of both components in the composite material.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PEDOT:PSS/MoS₂ spectrum shows combined vibrational features with slight shifts and intensity changes, indicating successful interaction and formation of the hybrid composite structure.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Peaks related to the thiophene ring vibrations and sulfonate groups of PEDOT:PSS are retained, demonstrating that the polymer backbone remains chemically stable after composite formation.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 Mo–S vibrational modes in the low wavenumber region confirm the structural integrity of MoS₂ within the composite.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new impurity peaks suggests good compatibility between PEDOT:PSS and MoS₂, supporting the formation of a well-integrated nanocomposite suitable for electronic and sensing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986918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D6CA9-9F64-2840-9A2C-91C0B0787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650FE-B33D-B2E4-9DCC-AE0850CFB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X-Ray Diffractogram PEDOT:PSS/MoS</a:t>
            </a:r>
            <a:r>
              <a:rPr 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46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5502C3-52DC-B68E-2B25-E7CE2081C66D}"/>
              </a:ext>
            </a:extLst>
          </p:cNvPr>
          <p:cNvGrpSpPr/>
          <p:nvPr/>
        </p:nvGrpSpPr>
        <p:grpSpPr>
          <a:xfrm>
            <a:off x="2065615" y="209100"/>
            <a:ext cx="8040222" cy="6439799"/>
            <a:chOff x="2065615" y="209100"/>
            <a:chExt cx="8040222" cy="64397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FA4303E-D2C3-5CBF-2710-13E16A64C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65615" y="209100"/>
              <a:ext cx="8040222" cy="643979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0064BCE-FD2C-B7D4-739A-9437293EDE82}"/>
                </a:ext>
              </a:extLst>
            </p:cNvPr>
            <p:cNvSpPr txBox="1"/>
            <p:nvPr/>
          </p:nvSpPr>
          <p:spPr>
            <a:xfrm>
              <a:off x="3764194" y="765710"/>
              <a:ext cx="52667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PEDOT-PSS/MoS</a:t>
              </a:r>
              <a:r>
                <a:rPr lang="en-US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endPara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5016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F0D14-87BD-C03C-98DC-FF3E5125B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6016E6-A329-D5C0-2E87-24B0C2D0F866}"/>
              </a:ext>
            </a:extLst>
          </p:cNvPr>
          <p:cNvSpPr txBox="1"/>
          <p:nvPr/>
        </p:nvSpPr>
        <p:spPr>
          <a:xfrm>
            <a:off x="852755" y="477077"/>
            <a:ext cx="10148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XRD Diffractogram Analysis 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C67C17-B06A-C49A-2F8E-33EEF070B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22" y="2234369"/>
            <a:ext cx="1120167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XRD pattern of the PEDOT:PSS/MoS₂ composite shows characteristic diffraction peaks corresponding to crystalline MoS₂, confirming its structural retention within the hybrid material.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broad background feature associated with PEDOT:PSS indicates the amorphous nature of the conducting polymer matrix.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coexistence of sharp MoS₂ peaks and the broad polymer halo demonstrates successful incorporation of MoS₂ into the PEDOT:PSS framework without phase decomposition.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additional impurity peaks are observed, suggesting good phase purity and compatibility between the inorganic MoS₂ and organic polymer components.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composite structure supports enhanced interfacial interaction, which is beneficial for charge transport and electrochemical sensing performance.</a:t>
            </a:r>
          </a:p>
        </p:txBody>
      </p:sp>
    </p:spTree>
    <p:extLst>
      <p:ext uri="{BB962C8B-B14F-4D97-AF65-F5344CB8AC3E}">
        <p14:creationId xmlns:p14="http://schemas.microsoft.com/office/powerpoint/2010/main" val="1563748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5A91F-2BFF-AFDC-1FAC-34A487E30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7C8E-3750-5D23-5810-306C5E1B8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Electrochemical sensing of Mercury (Hg</a:t>
            </a:r>
            <a:r>
              <a:rPr lang="en-US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515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EB83F4-B360-62DA-F9EE-DE38DB1AA9C3}"/>
              </a:ext>
            </a:extLst>
          </p:cNvPr>
          <p:cNvSpPr txBox="1"/>
          <p:nvPr/>
        </p:nvSpPr>
        <p:spPr>
          <a:xfrm>
            <a:off x="1259439" y="126497"/>
            <a:ext cx="9673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of standard addition </a:t>
            </a:r>
            <a:endParaRPr lang="en-IN" sz="40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E41C92-BD5F-BFEE-39CF-C9C05D701FCD}"/>
              </a:ext>
            </a:extLst>
          </p:cNvPr>
          <p:cNvGrpSpPr/>
          <p:nvPr/>
        </p:nvGrpSpPr>
        <p:grpSpPr>
          <a:xfrm>
            <a:off x="1780854" y="998770"/>
            <a:ext cx="6430108" cy="5007780"/>
            <a:chOff x="441789" y="1070689"/>
            <a:chExt cx="6430108" cy="50077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A4EC33-DB0D-DD34-E39D-0D5971DED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1789" y="1070689"/>
              <a:ext cx="6430108" cy="50077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699B909-99A2-C056-B86C-1717C1F5F6CC}"/>
                </a:ext>
              </a:extLst>
            </p:cNvPr>
            <p:cNvGrpSpPr/>
            <p:nvPr/>
          </p:nvGrpSpPr>
          <p:grpSpPr>
            <a:xfrm>
              <a:off x="2419562" y="1982912"/>
              <a:ext cx="863029" cy="1466221"/>
              <a:chOff x="2419562" y="1982912"/>
              <a:chExt cx="863029" cy="1466221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4A785A-2DE6-527D-232F-C2258DFA23BD}"/>
                  </a:ext>
                </a:extLst>
              </p:cNvPr>
              <p:cNvSpPr txBox="1"/>
              <p:nvPr/>
            </p:nvSpPr>
            <p:spPr>
              <a:xfrm>
                <a:off x="2445249" y="1982912"/>
                <a:ext cx="6575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5µM</a:t>
                </a:r>
                <a:endParaRPr lang="en-I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E08CDB-90B6-22BB-648B-81CAEF4E7A7E}"/>
                  </a:ext>
                </a:extLst>
              </p:cNvPr>
              <p:cNvSpPr txBox="1"/>
              <p:nvPr/>
            </p:nvSpPr>
            <p:spPr>
              <a:xfrm>
                <a:off x="2419562" y="3079801"/>
                <a:ext cx="863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55µM</a:t>
                </a:r>
                <a:endParaRPr lang="en-I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rrow: Down 7">
                <a:extLst>
                  <a:ext uri="{FF2B5EF4-FFF2-40B4-BE49-F238E27FC236}">
                    <a16:creationId xmlns:a16="http://schemas.microsoft.com/office/drawing/2014/main" id="{EF75ACA7-03C6-B47D-6350-F473B796A553}"/>
                  </a:ext>
                </a:extLst>
              </p:cNvPr>
              <p:cNvSpPr/>
              <p:nvPr/>
            </p:nvSpPr>
            <p:spPr>
              <a:xfrm>
                <a:off x="2696965" y="2403884"/>
                <a:ext cx="154112" cy="60414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5A4B860-1789-4097-B128-565920B0F300}"/>
              </a:ext>
            </a:extLst>
          </p:cNvPr>
          <p:cNvSpPr txBox="1"/>
          <p:nvPr/>
        </p:nvSpPr>
        <p:spPr>
          <a:xfrm>
            <a:off x="8349662" y="1843951"/>
            <a:ext cx="27772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SWASV Voltammograms for the sensitive detection of Hg</a:t>
            </a:r>
            <a:r>
              <a:rPr lang="en-US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ions using PEDOT:PSS/MoS</a:t>
            </a:r>
            <a:r>
              <a:rPr 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modified Glassy carbon electrode from 5µM to 55µM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0ABEF9F-3642-03F8-26E3-6E2DEEE32B1D}"/>
              </a:ext>
            </a:extLst>
          </p:cNvPr>
          <p:cNvSpPr/>
          <p:nvPr/>
        </p:nvSpPr>
        <p:spPr>
          <a:xfrm>
            <a:off x="8346040" y="1982913"/>
            <a:ext cx="390418" cy="1438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DD364B-1C28-EFE1-E96F-B2569458AB43}"/>
              </a:ext>
            </a:extLst>
          </p:cNvPr>
          <p:cNvSpPr txBox="1"/>
          <p:nvPr/>
        </p:nvSpPr>
        <p:spPr>
          <a:xfrm>
            <a:off x="5602840" y="1982912"/>
            <a:ext cx="1013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Hg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235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2FC550-64BD-4EA6-3D15-83BF20025D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65"/>
          <a:stretch>
            <a:fillRect/>
          </a:stretch>
        </p:blipFill>
        <p:spPr>
          <a:xfrm>
            <a:off x="1732045" y="967030"/>
            <a:ext cx="6696189" cy="57253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50E3FE-422D-2714-0DD0-3F4896654249}"/>
              </a:ext>
            </a:extLst>
          </p:cNvPr>
          <p:cNvSpPr txBox="1"/>
          <p:nvPr/>
        </p:nvSpPr>
        <p:spPr>
          <a:xfrm>
            <a:off x="1259440" y="85400"/>
            <a:ext cx="9673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range and Lod Calculation </a:t>
            </a:r>
            <a:endParaRPr lang="en-IN" sz="40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08FC4-2A72-D062-DEB5-5BA2125BC12D}"/>
              </a:ext>
            </a:extLst>
          </p:cNvPr>
          <p:cNvSpPr txBox="1"/>
          <p:nvPr/>
        </p:nvSpPr>
        <p:spPr>
          <a:xfrm>
            <a:off x="5197011" y="4839396"/>
            <a:ext cx="26558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kern="100" dirty="0">
                <a:latin typeface="Cambria Math" panose="02040503050406030204" pitchFamily="18" charset="0"/>
              </a:rPr>
              <a:t>𝐿𝑂𝐷</a:t>
            </a:r>
            <a:r>
              <a:rPr lang="en-IN" b="1" i="1" kern="100" dirty="0">
                <a:latin typeface="Times New Roman" panose="02020603050405020304" pitchFamily="18" charset="0"/>
              </a:rPr>
              <a:t> = 3.3</a:t>
            </a:r>
            <a:r>
              <a:rPr lang="en-IN" b="1" i="1" kern="100" dirty="0">
                <a:latin typeface="Calibri" panose="020F0502020204030204" pitchFamily="34" charset="0"/>
              </a:rPr>
              <a:t>×</a:t>
            </a:r>
            <a:r>
              <a:rPr lang="en-IN" b="1" i="1" kern="100" dirty="0">
                <a:latin typeface="Cambria Math" panose="02040503050406030204" pitchFamily="18" charset="0"/>
              </a:rPr>
              <a:t>Standard deviation/slope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796183-C86B-0CC8-E5A4-D3535492A5B0}"/>
              </a:ext>
            </a:extLst>
          </p:cNvPr>
          <p:cNvSpPr txBox="1"/>
          <p:nvPr/>
        </p:nvSpPr>
        <p:spPr>
          <a:xfrm>
            <a:off x="8505289" y="1594468"/>
            <a:ext cx="2070245" cy="389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en-I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Calibration plot between the oxidation peak currents vs. the concentration of Mercury (Hg</a:t>
            </a:r>
            <a:r>
              <a:rPr lang="en-IN" b="1" kern="1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2+</a:t>
            </a:r>
            <a:r>
              <a:rPr lang="en-I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IN" b="1" kern="1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 =  3).</a:t>
            </a:r>
            <a:endParaRPr lang="en-IN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671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7844DD-369F-C754-CDFB-86343DF6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440" y="968087"/>
            <a:ext cx="6837068" cy="52535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19ED4C-793F-DA6E-9FE0-78AFD49C18EC}"/>
              </a:ext>
            </a:extLst>
          </p:cNvPr>
          <p:cNvSpPr txBox="1"/>
          <p:nvPr/>
        </p:nvSpPr>
        <p:spPr>
          <a:xfrm>
            <a:off x="1259440" y="-7957"/>
            <a:ext cx="9673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effect of Other heavy metals </a:t>
            </a:r>
            <a:endParaRPr lang="en-IN" sz="40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D23CDF-7007-5D11-59E9-25AA53B43975}"/>
              </a:ext>
            </a:extLst>
          </p:cNvPr>
          <p:cNvSpPr txBox="1"/>
          <p:nvPr/>
        </p:nvSpPr>
        <p:spPr>
          <a:xfrm>
            <a:off x="8512140" y="1260765"/>
            <a:ext cx="220380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SWASV voltammograms illustrating the mutual interference analysis of heavy metal ions, demonstrating the sensor's capability to maintain distinct and well-defined anodic peaks with minimal cross-interference, even under varying analyte concentrations.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8840A6-77D4-C7B1-7578-D2065FCBB167}"/>
              </a:ext>
            </a:extLst>
          </p:cNvPr>
          <p:cNvSpPr txBox="1"/>
          <p:nvPr/>
        </p:nvSpPr>
        <p:spPr>
          <a:xfrm>
            <a:off x="6383676" y="1654139"/>
            <a:ext cx="1013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Hg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54D1C4-7778-771E-DC24-FC9834CC9C89}"/>
              </a:ext>
            </a:extLst>
          </p:cNvPr>
          <p:cNvSpPr txBox="1"/>
          <p:nvPr/>
        </p:nvSpPr>
        <p:spPr>
          <a:xfrm>
            <a:off x="5370156" y="2863411"/>
            <a:ext cx="1013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838F6-111A-8417-70B7-CC474CC64DEA}"/>
              </a:ext>
            </a:extLst>
          </p:cNvPr>
          <p:cNvSpPr txBox="1"/>
          <p:nvPr/>
        </p:nvSpPr>
        <p:spPr>
          <a:xfrm>
            <a:off x="4120133" y="1853342"/>
            <a:ext cx="1013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C97861-CDE0-6AAA-CE8F-8D00465DA91B}"/>
              </a:ext>
            </a:extLst>
          </p:cNvPr>
          <p:cNvSpPr txBox="1"/>
          <p:nvPr/>
        </p:nvSpPr>
        <p:spPr>
          <a:xfrm>
            <a:off x="2870111" y="1472975"/>
            <a:ext cx="1013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113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7DF3E43-7F33-CBF2-FBD2-B57B2F006F86}"/>
              </a:ext>
            </a:extLst>
          </p:cNvPr>
          <p:cNvGrpSpPr/>
          <p:nvPr/>
        </p:nvGrpSpPr>
        <p:grpSpPr>
          <a:xfrm>
            <a:off x="2047983" y="410967"/>
            <a:ext cx="7941923" cy="6102849"/>
            <a:chOff x="706278" y="133564"/>
            <a:chExt cx="7517958" cy="581517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E5DFC86-4AC3-0D82-58B1-2D9D59506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6278" y="133564"/>
              <a:ext cx="7517958" cy="581517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5F88744-16E8-001F-4A49-6DFE32565513}"/>
                </a:ext>
              </a:extLst>
            </p:cNvPr>
            <p:cNvSpPr txBox="1"/>
            <p:nvPr/>
          </p:nvSpPr>
          <p:spPr>
            <a:xfrm>
              <a:off x="2018872" y="647540"/>
              <a:ext cx="1864760" cy="3519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 µM- 100µM</a:t>
              </a:r>
              <a:endPara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ACEE88-6059-D146-46C0-1FE73EB20938}"/>
                </a:ext>
              </a:extLst>
            </p:cNvPr>
            <p:cNvSpPr txBox="1"/>
            <p:nvPr/>
          </p:nvSpPr>
          <p:spPr>
            <a:xfrm>
              <a:off x="3424720" y="1161516"/>
              <a:ext cx="1864760" cy="3519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 µM- 100µM</a:t>
              </a:r>
              <a:endPara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EDE46AA-A157-147A-131A-A3665BC2920F}"/>
                </a:ext>
              </a:extLst>
            </p:cNvPr>
            <p:cNvSpPr txBox="1"/>
            <p:nvPr/>
          </p:nvSpPr>
          <p:spPr>
            <a:xfrm>
              <a:off x="4760360" y="2374134"/>
              <a:ext cx="1864760" cy="3519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 µM- 100µM</a:t>
              </a:r>
              <a:endPara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0B0F50E-A261-FF16-3A79-06DA2A611A6D}"/>
                </a:ext>
              </a:extLst>
            </p:cNvPr>
            <p:cNvSpPr txBox="1"/>
            <p:nvPr/>
          </p:nvSpPr>
          <p:spPr>
            <a:xfrm>
              <a:off x="6473576" y="955763"/>
              <a:ext cx="932380" cy="3519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50µM</a:t>
              </a:r>
              <a:endPara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8811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1470F0E-5FB4-FEA2-FA5F-666CBD983638}"/>
              </a:ext>
            </a:extLst>
          </p:cNvPr>
          <p:cNvGrpSpPr/>
          <p:nvPr/>
        </p:nvGrpSpPr>
        <p:grpSpPr>
          <a:xfrm>
            <a:off x="2069498" y="436652"/>
            <a:ext cx="8053004" cy="5984697"/>
            <a:chOff x="197144" y="518845"/>
            <a:chExt cx="8203951" cy="61850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831F620-C9CD-F110-FA01-C0E450453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144" y="518845"/>
              <a:ext cx="8203951" cy="61850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3869442-B4A4-D2F0-D827-06B49BF760AC}"/>
                </a:ext>
              </a:extLst>
            </p:cNvPr>
            <p:cNvSpPr txBox="1"/>
            <p:nvPr/>
          </p:nvSpPr>
          <p:spPr>
            <a:xfrm>
              <a:off x="6380250" y="1078787"/>
              <a:ext cx="1013520" cy="540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Hg</a:t>
              </a:r>
              <a:r>
                <a:rPr lang="en-US" sz="28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2+</a:t>
              </a:r>
              <a:endPara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5727BD-6A51-9FD1-106D-D9AE18FEEF1A}"/>
                </a:ext>
              </a:extLst>
            </p:cNvPr>
            <p:cNvSpPr txBox="1"/>
            <p:nvPr/>
          </p:nvSpPr>
          <p:spPr>
            <a:xfrm>
              <a:off x="4791378" y="3870279"/>
              <a:ext cx="1013520" cy="540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</a:t>
              </a:r>
              <a:r>
                <a:rPr lang="en-US" sz="28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2+</a:t>
              </a:r>
              <a:endPara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C2B637-910F-47B5-51DC-DD61F24838BE}"/>
                </a:ext>
              </a:extLst>
            </p:cNvPr>
            <p:cNvSpPr txBox="1"/>
            <p:nvPr/>
          </p:nvSpPr>
          <p:spPr>
            <a:xfrm>
              <a:off x="3541355" y="2860210"/>
              <a:ext cx="1013520" cy="540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Pb</a:t>
              </a:r>
              <a:r>
                <a:rPr lang="en-US" sz="28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2+</a:t>
              </a:r>
              <a:endPara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BEB5CA-B449-5035-4CC6-50CE30965F38}"/>
                </a:ext>
              </a:extLst>
            </p:cNvPr>
            <p:cNvSpPr txBox="1"/>
            <p:nvPr/>
          </p:nvSpPr>
          <p:spPr>
            <a:xfrm>
              <a:off x="2291333" y="2479843"/>
              <a:ext cx="1013520" cy="540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Cd</a:t>
              </a:r>
              <a:r>
                <a:rPr lang="en-US" sz="28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2+</a:t>
              </a:r>
              <a:endPara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2271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F34DD7F-63D5-F049-458E-F692F55E368D}"/>
              </a:ext>
            </a:extLst>
          </p:cNvPr>
          <p:cNvGrpSpPr/>
          <p:nvPr/>
        </p:nvGrpSpPr>
        <p:grpSpPr>
          <a:xfrm>
            <a:off x="2099354" y="197192"/>
            <a:ext cx="8216615" cy="6463617"/>
            <a:chOff x="575353" y="197191"/>
            <a:chExt cx="8216615" cy="646361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EB14DEF-746E-7862-0226-1E73FE27A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5353" y="197191"/>
              <a:ext cx="8216615" cy="646361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E4294E6-1F51-1970-1073-DBAD88C2700B}"/>
                </a:ext>
              </a:extLst>
            </p:cNvPr>
            <p:cNvSpPr txBox="1"/>
            <p:nvPr/>
          </p:nvSpPr>
          <p:spPr>
            <a:xfrm>
              <a:off x="2198275" y="2680496"/>
              <a:ext cx="925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 µM</a:t>
              </a:r>
              <a:endPara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2AC95A9-B01E-CD9A-FD72-06DAD7931762}"/>
                </a:ext>
              </a:extLst>
            </p:cNvPr>
            <p:cNvSpPr txBox="1"/>
            <p:nvPr/>
          </p:nvSpPr>
          <p:spPr>
            <a:xfrm>
              <a:off x="3893314" y="2511771"/>
              <a:ext cx="925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 µM</a:t>
              </a:r>
              <a:endPara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8637159-034F-6B01-062B-1BD0FB6CAA14}"/>
                </a:ext>
              </a:extLst>
            </p:cNvPr>
            <p:cNvSpPr txBox="1"/>
            <p:nvPr/>
          </p:nvSpPr>
          <p:spPr>
            <a:xfrm>
              <a:off x="5256905" y="3804602"/>
              <a:ext cx="925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 µM</a:t>
              </a:r>
              <a:endPara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63AA211-AC85-2481-576D-1AABEF539D5E}"/>
                </a:ext>
              </a:extLst>
            </p:cNvPr>
            <p:cNvSpPr txBox="1"/>
            <p:nvPr/>
          </p:nvSpPr>
          <p:spPr>
            <a:xfrm>
              <a:off x="6181975" y="948396"/>
              <a:ext cx="12791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50- 200 µm</a:t>
              </a:r>
              <a:endPara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6543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F8690-9693-A1FF-E405-28070D51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C06E-5FD2-E21E-13F1-29671346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37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868</Words>
  <Application>Microsoft Office PowerPoint</Application>
  <PresentationFormat>Widescreen</PresentationFormat>
  <Paragraphs>81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Development of a MoS₂/PEDOT:PSS Functionalized Electrode for Trace-Level Detection of Toxic Hg2+</vt:lpstr>
      <vt:lpstr>PowerPoint Presentation</vt:lpstr>
      <vt:lpstr>PowerPoint Presentation</vt:lpstr>
      <vt:lpstr>PowerPoint Presentation</vt:lpstr>
      <vt:lpstr>PowerPoint Presentation</vt:lpstr>
      <vt:lpstr>FE-SEM Analysis of PEDOT:PSS</vt:lpstr>
      <vt:lpstr>PowerPoint Presentation</vt:lpstr>
      <vt:lpstr>FE-SEM Analysis of MoS2</vt:lpstr>
      <vt:lpstr>PowerPoint Presentation</vt:lpstr>
      <vt:lpstr>FE-SEM Analysis of PEDOT:PSS/MoS2</vt:lpstr>
      <vt:lpstr>PowerPoint Presentation</vt:lpstr>
      <vt:lpstr>FTIR SPECTRUM PEDOT:PSS/MoS2</vt:lpstr>
      <vt:lpstr>PowerPoint Presentation</vt:lpstr>
      <vt:lpstr>PowerPoint Presentation</vt:lpstr>
      <vt:lpstr>X-Ray Diffractogram PEDOT:PSS/MoS2 </vt:lpstr>
      <vt:lpstr>PowerPoint Presentation</vt:lpstr>
      <vt:lpstr>PowerPoint Presentation</vt:lpstr>
      <vt:lpstr>Electrochemical sensing of Mercury (Hg2+)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 Madhivanan</dc:creator>
  <cp:lastModifiedBy>Kacha Tejesh</cp:lastModifiedBy>
  <cp:revision>11</cp:revision>
  <dcterms:created xsi:type="dcterms:W3CDTF">2026-02-09T04:50:59Z</dcterms:created>
  <dcterms:modified xsi:type="dcterms:W3CDTF">2026-04-03T16:26:11Z</dcterms:modified>
</cp:coreProperties>
</file>